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Inter" panose="020B0604020202020204" charset="0"/>
      <p:regular r:id="rId18"/>
    </p:embeddedFont>
    <p:embeddedFont>
      <p:font typeface="Petrona Bold" panose="020B0604020202020204" charset="0"/>
      <p:regular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8973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66205"/>
            <a:ext cx="4722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Meeting Management System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3925119" y="220913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управления встречами и планирования времени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595414"/>
            <a:ext cx="1930450" cy="266402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2637904"/>
            <a:ext cx="221753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.NET 9 + POSTGRESQL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925119" y="3021285"/>
            <a:ext cx="4722763" cy="1056010"/>
          </a:xfrm>
          <a:prstGeom prst="roundRect">
            <a:avLst>
              <a:gd name="adj" fmla="val 5638"/>
            </a:avLst>
          </a:prstGeom>
          <a:solidFill>
            <a:srgbClr val="B3E5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877" y="3236342"/>
            <a:ext cx="177180" cy="1417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5816" y="3198465"/>
            <a:ext cx="412030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Полнофункциональная веб-система для управления встречами, организации времени и синхронизации расписания команд</a:t>
            </a:r>
            <a:endParaRPr lang="en-US" sz="11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B8174AC-9C0F-7CE2-5E2A-C151283248BF}"/>
              </a:ext>
            </a:extLst>
          </p:cNvPr>
          <p:cNvSpPr/>
          <p:nvPr/>
        </p:nvSpPr>
        <p:spPr>
          <a:xfrm>
            <a:off x="7997588" y="4826758"/>
            <a:ext cx="1146412" cy="316742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00583"/>
            <a:ext cx="5044678" cy="395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Почему эта система важна?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3925119" y="1049536"/>
            <a:ext cx="4722763" cy="866105"/>
          </a:xfrm>
          <a:prstGeom prst="roundRect">
            <a:avLst>
              <a:gd name="adj" fmla="val 5844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50357" y="1174775"/>
            <a:ext cx="1581522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Рост числа встреч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050357" y="1433810"/>
            <a:ext cx="447228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Количество онлайн-встреч выросло в </a:t>
            </a: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3–5 раз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 развитием удалённой работы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925119" y="2018035"/>
            <a:ext cx="4722763" cy="687809"/>
          </a:xfrm>
          <a:prstGeom prst="roundRect">
            <a:avLst>
              <a:gd name="adj" fmla="val 7358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50357" y="2143274"/>
            <a:ext cx="1581522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Потеря времени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50357" y="2402309"/>
            <a:ext cx="447228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Сотрудники тратят </a:t>
            </a: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2–3 часа в день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на согласование через мессенджеры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925119" y="2808238"/>
            <a:ext cx="4722763" cy="866105"/>
          </a:xfrm>
          <a:prstGeom prst="roundRect">
            <a:avLst>
              <a:gd name="adj" fmla="val 5844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50357" y="2933477"/>
            <a:ext cx="1989981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Конфликты расписания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050357" y="3192512"/>
            <a:ext cx="447228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Пересекающиеся встречи и забытые события без единой системы контроля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925119" y="3776737"/>
            <a:ext cx="4722763" cy="866105"/>
          </a:xfrm>
          <a:prstGeom prst="roundRect">
            <a:avLst>
              <a:gd name="adj" fmla="val 5844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50357" y="3901976"/>
            <a:ext cx="2368228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Разрозненные инструменты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050357" y="4161011"/>
            <a:ext cx="447228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Calendar, Microsoft Teams, Calendly — нет ролей, казахского языка и self-hosted</a:t>
            </a:r>
            <a:endParaRPr lang="en-US" sz="9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DE36978-7DB0-9747-E317-3124890441A5}"/>
              </a:ext>
            </a:extLst>
          </p:cNvPr>
          <p:cNvSpPr/>
          <p:nvPr/>
        </p:nvSpPr>
        <p:spPr>
          <a:xfrm>
            <a:off x="7997588" y="4826758"/>
            <a:ext cx="1146412" cy="316742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4029"/>
            <a:ext cx="3858369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Цели и задачи проекта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952351"/>
            <a:ext cx="86089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Интуитивная, безопасная и масштабируемая система для управления встречами в командах любого размера.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96119" y="1190848"/>
            <a:ext cx="8151763" cy="637952"/>
          </a:xfrm>
          <a:prstGeom prst="roundRect">
            <a:avLst>
              <a:gd name="adj" fmla="val 7000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0406" y="1205136"/>
            <a:ext cx="425276" cy="609377"/>
          </a:xfrm>
          <a:prstGeom prst="roundRect">
            <a:avLst>
              <a:gd name="adj" fmla="val 6469"/>
            </a:avLst>
          </a:prstGeom>
          <a:solidFill>
            <a:srgbClr val="CCEEFF"/>
          </a:solidFill>
          <a:ln/>
        </p:spPr>
      </p:sp>
      <p:sp>
        <p:nvSpPr>
          <p:cNvPr id="6" name="Text 4"/>
          <p:cNvSpPr/>
          <p:nvPr/>
        </p:nvSpPr>
        <p:spPr>
          <a:xfrm>
            <a:off x="640928" y="1410146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15380" y="1311399"/>
            <a:ext cx="13954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Аутентификация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15380" y="1533525"/>
            <a:ext cx="751195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Безопасная регистрация, вход, роли: User, Organizer, Admin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96119" y="1908497"/>
            <a:ext cx="8151763" cy="637952"/>
          </a:xfrm>
          <a:prstGeom prst="roundRect">
            <a:avLst>
              <a:gd name="adj" fmla="val 7000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0406" y="1922785"/>
            <a:ext cx="425276" cy="609377"/>
          </a:xfrm>
          <a:prstGeom prst="roundRect">
            <a:avLst>
              <a:gd name="adj" fmla="val 6469"/>
            </a:avLst>
          </a:prstGeom>
          <a:solidFill>
            <a:srgbClr val="CCEE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928" y="2127796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15380" y="2029048"/>
            <a:ext cx="13954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CRUD встреч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15380" y="2251174"/>
            <a:ext cx="751195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Создание, редактирование, удаление со всеми деталями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96119" y="2626147"/>
            <a:ext cx="8151763" cy="637952"/>
          </a:xfrm>
          <a:prstGeom prst="roundRect">
            <a:avLst>
              <a:gd name="adj" fmla="val 7000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0406" y="2640434"/>
            <a:ext cx="425276" cy="609377"/>
          </a:xfrm>
          <a:prstGeom prst="roundRect">
            <a:avLst>
              <a:gd name="adj" fmla="val 6469"/>
            </a:avLst>
          </a:prstGeom>
          <a:solidFill>
            <a:srgbClr val="CCEE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928" y="2845445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15380" y="2746697"/>
            <a:ext cx="148820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Проверка занятости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15380" y="2968823"/>
            <a:ext cx="751195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Автоматическая проверка календарей участников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96119" y="3343796"/>
            <a:ext cx="8151763" cy="637952"/>
          </a:xfrm>
          <a:prstGeom prst="roundRect">
            <a:avLst>
              <a:gd name="adj" fmla="val 7000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0406" y="3358083"/>
            <a:ext cx="425276" cy="609377"/>
          </a:xfrm>
          <a:prstGeom prst="roundRect">
            <a:avLst>
              <a:gd name="adj" fmla="val 6469"/>
            </a:avLst>
          </a:prstGeom>
          <a:solidFill>
            <a:srgbClr val="CCEE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928" y="3563094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15380" y="3464347"/>
            <a:ext cx="190797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Управление участниками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15380" y="3686473"/>
            <a:ext cx="751195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Приглашения, ответы (принял/отклонил), обязательные участники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96119" y="4061445"/>
            <a:ext cx="8151763" cy="637952"/>
          </a:xfrm>
          <a:prstGeom prst="roundRect">
            <a:avLst>
              <a:gd name="adj" fmla="val 7000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0406" y="4075733"/>
            <a:ext cx="425276" cy="609377"/>
          </a:xfrm>
          <a:prstGeom prst="roundRect">
            <a:avLst>
              <a:gd name="adj" fmla="val 6469"/>
            </a:avLst>
          </a:prstGeom>
          <a:solidFill>
            <a:srgbClr val="CCEE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928" y="4280743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15380" y="4181996"/>
            <a:ext cx="13954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Файлы и архив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15380" y="4404122"/>
            <a:ext cx="751195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Прикрепление документов и сохранение истории встреч</a:t>
            </a:r>
            <a:endParaRPr lang="en-US" sz="800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79CAED5-D3EF-F356-A934-3128E3A66431}"/>
              </a:ext>
            </a:extLst>
          </p:cNvPr>
          <p:cNvSpPr/>
          <p:nvPr/>
        </p:nvSpPr>
        <p:spPr>
          <a:xfrm>
            <a:off x="7997588" y="4826758"/>
            <a:ext cx="1146412" cy="316742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268337"/>
            <a:ext cx="3056111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Архитектура системы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" y="685577"/>
            <a:ext cx="2698105" cy="4131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81314" y="2274763"/>
            <a:ext cx="2119685" cy="140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Трёхуровневая архитектура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681314" y="2467198"/>
            <a:ext cx="4134073" cy="423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React SPA на TypeScript с календарём и управлением участниками</a:t>
            </a:r>
            <a:endParaRPr lang="en-US" sz="65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REST API на .NET 9 с CQRS паттерном через MediatR</a:t>
            </a:r>
            <a:endParaRPr lang="en-US" sz="65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PostgreSQL для надёжного хранения с поддержкой сложных запросов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4681314" y="2948583"/>
            <a:ext cx="4134073" cy="272653"/>
          </a:xfrm>
          <a:prstGeom prst="roundRect">
            <a:avLst>
              <a:gd name="adj" fmla="val 13205"/>
            </a:avLst>
          </a:prstGeom>
          <a:solidFill>
            <a:srgbClr val="B3E5F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7039" y="3066455"/>
            <a:ext cx="107156" cy="857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59921" y="3021806"/>
            <a:ext cx="4184079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компоненты независимы и могут развиваться отдельно</a:t>
            </a:r>
            <a:endParaRPr lang="en-US" sz="65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2AA867F-67E8-B019-CEEF-C8CA4717A1D7}"/>
              </a:ext>
            </a:extLst>
          </p:cNvPr>
          <p:cNvSpPr/>
          <p:nvPr/>
        </p:nvSpPr>
        <p:spPr>
          <a:xfrm>
            <a:off x="7997588" y="4826758"/>
            <a:ext cx="1146412" cy="316742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2374"/>
            <a:ext cx="6480423" cy="441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Технологический стек — Backend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120080"/>
            <a:ext cx="8151763" cy="2457822"/>
          </a:xfrm>
          <a:prstGeom prst="roundRect">
            <a:avLst>
              <a:gd name="adj" fmla="val 230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124843"/>
            <a:ext cx="8142238" cy="58310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35571" y="1206326"/>
            <a:ext cx="3035350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C# 12 / .NET 9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487713" y="1206326"/>
            <a:ext cx="5020791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Современный типобезопасный язык, высокопроизводительный фреймворк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0881" y="1707952"/>
            <a:ext cx="8142238" cy="37303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35571" y="1789435"/>
            <a:ext cx="3035350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87713" y="1789435"/>
            <a:ext cx="5477991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Надёжная реляционная БД с поддержкой сложных операций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0881" y="2080989"/>
            <a:ext cx="8142238" cy="37303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35571" y="2162473"/>
            <a:ext cx="3035350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Framework Core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87713" y="2162473"/>
            <a:ext cx="5477991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ORM для удобной работы с БД на C#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0881" y="2454027"/>
            <a:ext cx="8142238" cy="37303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35571" y="2535510"/>
            <a:ext cx="3035350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MediatR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87713" y="2535510"/>
            <a:ext cx="5477991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CQRS паттерн для чистой архитектуры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0881" y="2827065"/>
            <a:ext cx="8142238" cy="37303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5571" y="2908548"/>
            <a:ext cx="3035350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+ ASP.NET Identity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87713" y="2908548"/>
            <a:ext cx="5477991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Безопасная аутентификация и управление ролями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0881" y="3200102"/>
            <a:ext cx="8142238" cy="37303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35571" y="3281586"/>
            <a:ext cx="3035350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Delete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87713" y="3281586"/>
            <a:ext cx="5477991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Логическое удаление данных вместо физического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6119" y="3721819"/>
            <a:ext cx="8151763" cy="999232"/>
          </a:xfrm>
          <a:prstGeom prst="roundRect">
            <a:avLst>
              <a:gd name="adj" fmla="val 5661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0881" y="3726582"/>
            <a:ext cx="4071119" cy="494854"/>
          </a:xfrm>
          <a:prstGeom prst="roundRect">
            <a:avLst>
              <a:gd name="adj" fmla="val 11431"/>
            </a:avLst>
          </a:prstGeom>
          <a:solidFill>
            <a:srgbClr val="CCEEFF"/>
          </a:solidFill>
          <a:ln/>
        </p:spPr>
      </p:sp>
      <p:sp>
        <p:nvSpPr>
          <p:cNvPr id="24" name="Text 22"/>
          <p:cNvSpPr/>
          <p:nvPr/>
        </p:nvSpPr>
        <p:spPr>
          <a:xfrm>
            <a:off x="635496" y="3861197"/>
            <a:ext cx="2250653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⚡</a:t>
            </a: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Производительность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572000" y="3726582"/>
            <a:ext cx="4071119" cy="494854"/>
          </a:xfrm>
          <a:prstGeom prst="rect">
            <a:avLst/>
          </a:prstGeom>
          <a:solidFill>
            <a:srgbClr val="CCEE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0" y="3726582"/>
            <a:ext cx="19050" cy="494854"/>
          </a:xfrm>
          <a:prstGeom prst="roundRect">
            <a:avLst>
              <a:gd name="adj" fmla="val 296930"/>
            </a:avLst>
          </a:prstGeom>
          <a:solidFill>
            <a:srgbClr val="B2D4E5"/>
          </a:solidFill>
          <a:ln/>
        </p:spPr>
      </p:sp>
      <p:sp>
        <p:nvSpPr>
          <p:cNvPr id="27" name="Text 25"/>
          <p:cNvSpPr/>
          <p:nvPr/>
        </p:nvSpPr>
        <p:spPr>
          <a:xfrm>
            <a:off x="4706615" y="3861197"/>
            <a:ext cx="2108671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📈</a:t>
            </a: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Масштабируемость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00881" y="4221435"/>
            <a:ext cx="4071119" cy="494854"/>
          </a:xfrm>
          <a:prstGeom prst="rect">
            <a:avLst/>
          </a:prstGeom>
          <a:solidFill>
            <a:srgbClr val="CCEE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00881" y="4221435"/>
            <a:ext cx="4071119" cy="19050"/>
          </a:xfrm>
          <a:prstGeom prst="roundRect">
            <a:avLst>
              <a:gd name="adj" fmla="val 296930"/>
            </a:avLst>
          </a:prstGeom>
          <a:solidFill>
            <a:srgbClr val="B2D4E5"/>
          </a:solidFill>
          <a:ln/>
        </p:spPr>
      </p:sp>
      <p:sp>
        <p:nvSpPr>
          <p:cNvPr id="30" name="Text 28"/>
          <p:cNvSpPr/>
          <p:nvPr/>
        </p:nvSpPr>
        <p:spPr>
          <a:xfrm>
            <a:off x="635496" y="4356050"/>
            <a:ext cx="1767632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🔒</a:t>
            </a: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Безопасность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572000" y="4221435"/>
            <a:ext cx="4071119" cy="494854"/>
          </a:xfrm>
          <a:prstGeom prst="rect">
            <a:avLst/>
          </a:prstGeom>
          <a:solidFill>
            <a:srgbClr val="CCEE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0" y="4221435"/>
            <a:ext cx="19050" cy="494854"/>
          </a:xfrm>
          <a:prstGeom prst="roundRect">
            <a:avLst>
              <a:gd name="adj" fmla="val 296930"/>
            </a:avLst>
          </a:prstGeom>
          <a:solidFill>
            <a:srgbClr val="B2D4E5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4221435"/>
            <a:ext cx="4071119" cy="19050"/>
          </a:xfrm>
          <a:prstGeom prst="roundRect">
            <a:avLst>
              <a:gd name="adj" fmla="val 296930"/>
            </a:avLst>
          </a:prstGeom>
          <a:solidFill>
            <a:srgbClr val="B2D4E5"/>
          </a:solidFill>
          <a:ln/>
        </p:spPr>
      </p:sp>
      <p:sp>
        <p:nvSpPr>
          <p:cNvPr id="34" name="Text 32"/>
          <p:cNvSpPr/>
          <p:nvPr/>
        </p:nvSpPr>
        <p:spPr>
          <a:xfrm>
            <a:off x="4706615" y="4356050"/>
            <a:ext cx="1767632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✅</a:t>
            </a: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Надёжность</a:t>
            </a:r>
            <a:endParaRPr lang="en-US" sz="1350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30F4A907-00BA-12DE-A7D4-DCED36B425AF}"/>
              </a:ext>
            </a:extLst>
          </p:cNvPr>
          <p:cNvSpPr/>
          <p:nvPr/>
        </p:nvSpPr>
        <p:spPr>
          <a:xfrm>
            <a:off x="7997588" y="4826758"/>
            <a:ext cx="1146412" cy="316742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8161"/>
            <a:ext cx="5938763" cy="395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Технологический стек — Frontend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76883"/>
            <a:ext cx="4416326" cy="293868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5725" y="1075990"/>
            <a:ext cx="180752" cy="1807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82122" y="1072307"/>
            <a:ext cx="1664196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React 18+ &amp; TypeScript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382122" y="1372344"/>
            <a:ext cx="2270447" cy="534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Интерактивный UI с типобезопасностью — ошибки отлавливаются до продакшена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5725" y="2115703"/>
            <a:ext cx="180752" cy="1807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82122" y="2112020"/>
            <a:ext cx="1581522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Redux Toolkit + Fetch API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382122" y="2412057"/>
            <a:ext cx="2270447" cy="534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 состоянием через слайсы и HTTP-клиент на Fetch API с JWT-авторизацией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5725" y="3155417"/>
            <a:ext cx="180752" cy="1807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82122" y="3151733"/>
            <a:ext cx="2046238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SCSS (Sass) + React Router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382122" y="3451771"/>
            <a:ext cx="2270447" cy="534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Модульные SCSS-стили и навигация в SPA без перезагрузки страниц; локализация ru / kk (i18next)</a:t>
            </a:r>
            <a:endParaRPr lang="en-US" sz="900" dirty="0"/>
          </a:p>
        </p:txBody>
      </p:sp>
      <p:sp>
        <p:nvSpPr>
          <p:cNvPr id="13" name="Shape 7"/>
          <p:cNvSpPr/>
          <p:nvPr/>
        </p:nvSpPr>
        <p:spPr>
          <a:xfrm>
            <a:off x="5990555" y="4101852"/>
            <a:ext cx="1522586" cy="229046"/>
          </a:xfrm>
          <a:prstGeom prst="roundRect">
            <a:avLst>
              <a:gd name="adj" fmla="val 17677"/>
            </a:avLst>
          </a:prstGeom>
          <a:noFill/>
          <a:ln w="4763">
            <a:solidFill>
              <a:srgbClr val="007EBD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067574" y="4142705"/>
            <a:ext cx="1825749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🎨</a:t>
            </a:r>
            <a:r>
              <a:rPr lang="en-US" sz="7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СОВРЕМЕННЫЙ ДИЗАЙН</a:t>
            </a:r>
            <a:endParaRPr lang="en-US" sz="750" dirty="0"/>
          </a:p>
        </p:txBody>
      </p:sp>
      <p:sp>
        <p:nvSpPr>
          <p:cNvPr id="15" name="Shape 9"/>
          <p:cNvSpPr/>
          <p:nvPr/>
        </p:nvSpPr>
        <p:spPr>
          <a:xfrm>
            <a:off x="7573342" y="4101852"/>
            <a:ext cx="1011882" cy="229046"/>
          </a:xfrm>
          <a:prstGeom prst="roundRect">
            <a:avLst>
              <a:gd name="adj" fmla="val 17677"/>
            </a:avLst>
          </a:prstGeom>
          <a:noFill/>
          <a:ln w="4763">
            <a:solidFill>
              <a:srgbClr val="007EBD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7650361" y="4142705"/>
            <a:ext cx="1315045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📱</a:t>
            </a:r>
            <a:r>
              <a:rPr lang="en-US" sz="7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АДАПТИВНЫЙ</a:t>
            </a:r>
            <a:endParaRPr lang="en-US" sz="750" dirty="0"/>
          </a:p>
        </p:txBody>
      </p:sp>
      <p:sp>
        <p:nvSpPr>
          <p:cNvPr id="17" name="Shape 11"/>
          <p:cNvSpPr/>
          <p:nvPr/>
        </p:nvSpPr>
        <p:spPr>
          <a:xfrm>
            <a:off x="5990555" y="4391099"/>
            <a:ext cx="1285801" cy="229046"/>
          </a:xfrm>
          <a:prstGeom prst="roundRect">
            <a:avLst>
              <a:gd name="adj" fmla="val 17677"/>
            </a:avLst>
          </a:prstGeom>
          <a:noFill/>
          <a:ln w="4763">
            <a:solidFill>
              <a:srgbClr val="007EBD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067574" y="4431953"/>
            <a:ext cx="1588963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</a:t>
            </a:r>
            <a:r>
              <a:rPr lang="en-US" sz="7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БЫСТРАЯ ЗАГРУЗКА</a:t>
            </a:r>
            <a:endParaRPr lang="en-US" sz="7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45CBC50-F601-4BEA-E482-8905B4E62016}"/>
              </a:ext>
            </a:extLst>
          </p:cNvPr>
          <p:cNvSpPr/>
          <p:nvPr/>
        </p:nvSpPr>
        <p:spPr>
          <a:xfrm>
            <a:off x="7997588" y="4826758"/>
            <a:ext cx="1146412" cy="316742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0346"/>
            <a:ext cx="6160219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Ключевые функции системы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96119" y="1489025"/>
            <a:ext cx="2622724" cy="2914055"/>
          </a:xfrm>
          <a:prstGeom prst="roundRect">
            <a:avLst>
              <a:gd name="adj" fmla="val 227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2640" y="163554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007EB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19" y="1752451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2202582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Пользователь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42640" y="2520181"/>
            <a:ext cx="2329681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Регистрация и вход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Просмотр приглашений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Принять/отклонить с комментарием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Календарь встреч и файлы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0601" y="1489025"/>
            <a:ext cx="2622724" cy="2914055"/>
          </a:xfrm>
          <a:prstGeom prst="roundRect">
            <a:avLst>
              <a:gd name="adj" fmla="val 227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07122" y="163554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007EB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101" y="1752451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7122" y="2202582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Организатор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407122" y="2520181"/>
            <a:ext cx="2329681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встреч (очная, онлайн, гибридная)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занятости участников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Уведомления об изменениях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Отслеживание ответов и файлы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25083" y="1489025"/>
            <a:ext cx="2622724" cy="2914055"/>
          </a:xfrm>
          <a:prstGeom prst="roundRect">
            <a:avLst>
              <a:gd name="adj" fmla="val 227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71605" y="163554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007EBD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8584" y="1752451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1605" y="2202582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Администратор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171605" y="2520181"/>
            <a:ext cx="2329681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встречи в системе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 пользователями и ролями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История и архив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Редактирование любых встреч</a:t>
            </a:r>
            <a:endParaRPr lang="en-US" sz="110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6223633-AEF3-EE4D-0772-5A1C0E3E28C6}"/>
              </a:ext>
            </a:extLst>
          </p:cNvPr>
          <p:cNvSpPr/>
          <p:nvPr/>
        </p:nvSpPr>
        <p:spPr>
          <a:xfrm>
            <a:off x="7997588" y="4826758"/>
            <a:ext cx="1146412" cy="316742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752"/>
            <a:ext cx="8151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Сценарий: Организация встречи команды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96119" y="3178671"/>
            <a:ext cx="8151763" cy="19050"/>
          </a:xfrm>
          <a:prstGeom prst="roundRect">
            <a:avLst>
              <a:gd name="adj" fmla="val 312558"/>
            </a:avLst>
          </a:prstGeom>
          <a:solidFill>
            <a:srgbClr val="B2D4E5"/>
          </a:solidFill>
          <a:ln/>
        </p:spPr>
      </p:sp>
      <p:sp>
        <p:nvSpPr>
          <p:cNvPr id="4" name="Shape 2"/>
          <p:cNvSpPr/>
          <p:nvPr/>
        </p:nvSpPr>
        <p:spPr>
          <a:xfrm>
            <a:off x="1786161" y="2753395"/>
            <a:ext cx="19050" cy="425276"/>
          </a:xfrm>
          <a:prstGeom prst="roundRect">
            <a:avLst>
              <a:gd name="adj" fmla="val 312558"/>
            </a:avLst>
          </a:prstGeom>
          <a:solidFill>
            <a:srgbClr val="B2D4E5"/>
          </a:solidFill>
          <a:ln/>
        </p:spPr>
      </p:sp>
      <p:sp>
        <p:nvSpPr>
          <p:cNvPr id="5" name="Shape 3"/>
          <p:cNvSpPr/>
          <p:nvPr/>
        </p:nvSpPr>
        <p:spPr>
          <a:xfrm>
            <a:off x="1636216" y="3019202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84065" y="3039145"/>
            <a:ext cx="223242" cy="2790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65361" y="1613595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Создание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7877" y="1931194"/>
            <a:ext cx="231561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Иван создаёт «Планёрка команды» на 10:00, формат онлайн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4281" y="3178671"/>
            <a:ext cx="19050" cy="425276"/>
          </a:xfrm>
          <a:prstGeom prst="roundRect">
            <a:avLst>
              <a:gd name="adj" fmla="val 312558"/>
            </a:avLst>
          </a:prstGeom>
          <a:solidFill>
            <a:srgbClr val="B2D4E5"/>
          </a:solidFill>
          <a:ln/>
        </p:spPr>
      </p:sp>
      <p:sp>
        <p:nvSpPr>
          <p:cNvPr id="10" name="Shape 8"/>
          <p:cNvSpPr/>
          <p:nvPr/>
        </p:nvSpPr>
        <p:spPr>
          <a:xfrm>
            <a:off x="3024336" y="3019202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72185" y="3039145"/>
            <a:ext cx="223242" cy="2790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2253481" y="374570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Проверка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025997" y="4063305"/>
            <a:ext cx="231561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проверяет занятость: Алиса занята → предупреждение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62475" y="2753395"/>
            <a:ext cx="19050" cy="425276"/>
          </a:xfrm>
          <a:prstGeom prst="roundRect">
            <a:avLst>
              <a:gd name="adj" fmla="val 312558"/>
            </a:avLst>
          </a:prstGeom>
          <a:solidFill>
            <a:srgbClr val="B2D4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412531" y="3019202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0379" y="3039145"/>
            <a:ext cx="223242" cy="2790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3641675" y="1613595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Корректировка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414192" y="1931194"/>
            <a:ext cx="231561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Иван переносит встречу на 11:00, система отправляет приглашения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50595" y="3178671"/>
            <a:ext cx="19050" cy="425276"/>
          </a:xfrm>
          <a:prstGeom prst="roundRect">
            <a:avLst>
              <a:gd name="adj" fmla="val 312558"/>
            </a:avLst>
          </a:prstGeom>
          <a:solidFill>
            <a:srgbClr val="B2D4E5"/>
          </a:solidFill>
          <a:ln/>
        </p:spPr>
      </p:sp>
      <p:sp>
        <p:nvSpPr>
          <p:cNvPr id="20" name="Shape 18"/>
          <p:cNvSpPr/>
          <p:nvPr/>
        </p:nvSpPr>
        <p:spPr>
          <a:xfrm>
            <a:off x="5800651" y="3019202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48499" y="3039145"/>
            <a:ext cx="223242" cy="2790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5029795" y="374570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Ответы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802312" y="4063305"/>
            <a:ext cx="231561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Мария принимает, Пётр отклоняет, Алиса отвечает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38789" y="2753395"/>
            <a:ext cx="19050" cy="425276"/>
          </a:xfrm>
          <a:prstGeom prst="roundRect">
            <a:avLst>
              <a:gd name="adj" fmla="val 312558"/>
            </a:avLst>
          </a:prstGeom>
          <a:solidFill>
            <a:srgbClr val="B2D4E5"/>
          </a:solidFill>
          <a:ln/>
        </p:spPr>
      </p:sp>
      <p:sp>
        <p:nvSpPr>
          <p:cNvPr id="25" name="Shape 23"/>
          <p:cNvSpPr/>
          <p:nvPr/>
        </p:nvSpPr>
        <p:spPr>
          <a:xfrm>
            <a:off x="7188845" y="3019202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36693" y="3039145"/>
            <a:ext cx="223242" cy="2790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6417990" y="1613595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Подтверждение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190506" y="1931194"/>
            <a:ext cx="231561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обязательные участники — статус «Подтверждена», за день до встречи — напоминание</a:t>
            </a:r>
            <a:endParaRPr lang="en-US" sz="1100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CADF978-475F-4614-AAE8-BB9F45270DDD}"/>
              </a:ext>
            </a:extLst>
          </p:cNvPr>
          <p:cNvSpPr/>
          <p:nvPr/>
        </p:nvSpPr>
        <p:spPr>
          <a:xfrm>
            <a:off x="7997588" y="4826758"/>
            <a:ext cx="1146412" cy="316742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4258"/>
            <a:ext cx="6684094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Технические особенности и инновации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96119" y="1104454"/>
            <a:ext cx="1839069" cy="1217488"/>
          </a:xfrm>
          <a:prstGeom prst="roundRect">
            <a:avLst>
              <a:gd name="adj" fmla="val 5633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1831" y="1104454"/>
            <a:ext cx="57150" cy="1217488"/>
          </a:xfrm>
          <a:prstGeom prst="roundRect">
            <a:avLst>
              <a:gd name="adj" fmla="val 83349"/>
            </a:avLst>
          </a:prstGeom>
          <a:solidFill>
            <a:srgbClr val="007EBD"/>
          </a:solidFill>
          <a:ln/>
        </p:spPr>
      </p:sp>
      <p:sp>
        <p:nvSpPr>
          <p:cNvPr id="5" name="Text 3"/>
          <p:cNvSpPr/>
          <p:nvPr/>
        </p:nvSpPr>
        <p:spPr>
          <a:xfrm>
            <a:off x="666676" y="1232148"/>
            <a:ext cx="148850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CQRS паттерн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6676" y="1508894"/>
            <a:ext cx="1540818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Команды отделены от запросов — чистая архитектура, лёгкое тестирование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425898" y="1104454"/>
            <a:ext cx="1839144" cy="1217488"/>
          </a:xfrm>
          <a:prstGeom prst="roundRect">
            <a:avLst>
              <a:gd name="adj" fmla="val 5633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11611" y="1104454"/>
            <a:ext cx="57150" cy="1217488"/>
          </a:xfrm>
          <a:prstGeom prst="roundRect">
            <a:avLst>
              <a:gd name="adj" fmla="val 83349"/>
            </a:avLst>
          </a:prstGeom>
          <a:solidFill>
            <a:srgbClr val="007EBD"/>
          </a:solidFill>
          <a:ln/>
        </p:spPr>
      </p:sp>
      <p:sp>
        <p:nvSpPr>
          <p:cNvPr id="9" name="Text 7"/>
          <p:cNvSpPr/>
          <p:nvPr/>
        </p:nvSpPr>
        <p:spPr>
          <a:xfrm>
            <a:off x="2596455" y="1232148"/>
            <a:ext cx="1540892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Проверка занятости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596455" y="1694929"/>
            <a:ext cx="1540892" cy="499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Алгоритм: </a:t>
            </a:r>
            <a:r>
              <a:rPr lang="en-US" sz="8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start &lt; end AND end &gt; start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исключает отменённые встречи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96119" y="2412653"/>
            <a:ext cx="1839069" cy="1021928"/>
          </a:xfrm>
          <a:prstGeom prst="roundRect">
            <a:avLst>
              <a:gd name="adj" fmla="val 6711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1831" y="2412653"/>
            <a:ext cx="57150" cy="1021928"/>
          </a:xfrm>
          <a:prstGeom prst="roundRect">
            <a:avLst>
              <a:gd name="adj" fmla="val 83349"/>
            </a:avLst>
          </a:prstGeom>
          <a:solidFill>
            <a:srgbClr val="007EBD"/>
          </a:solidFill>
          <a:ln/>
        </p:spPr>
      </p:sp>
      <p:sp>
        <p:nvSpPr>
          <p:cNvPr id="13" name="Text 11"/>
          <p:cNvSpPr/>
          <p:nvPr/>
        </p:nvSpPr>
        <p:spPr>
          <a:xfrm>
            <a:off x="666676" y="2540347"/>
            <a:ext cx="148850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Soft Delete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6676" y="2817093"/>
            <a:ext cx="1540818" cy="489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Данные не удаляются — полная история для аудита и восстановления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25898" y="2412653"/>
            <a:ext cx="1839144" cy="1021928"/>
          </a:xfrm>
          <a:prstGeom prst="roundRect">
            <a:avLst>
              <a:gd name="adj" fmla="val 6711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11611" y="2412653"/>
            <a:ext cx="57150" cy="1021928"/>
          </a:xfrm>
          <a:prstGeom prst="roundRect">
            <a:avLst>
              <a:gd name="adj" fmla="val 83349"/>
            </a:avLst>
          </a:prstGeom>
          <a:solidFill>
            <a:srgbClr val="007EBD"/>
          </a:solidFill>
          <a:ln/>
        </p:spPr>
      </p:sp>
      <p:sp>
        <p:nvSpPr>
          <p:cNvPr id="17" name="Text 15"/>
          <p:cNvSpPr/>
          <p:nvPr/>
        </p:nvSpPr>
        <p:spPr>
          <a:xfrm>
            <a:off x="2596455" y="2540347"/>
            <a:ext cx="148850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Гибкие роли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96455" y="2817093"/>
            <a:ext cx="1540892" cy="489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Несколько ролей у одного пользователя, проверка всей коллекции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6119" y="3525292"/>
            <a:ext cx="1839069" cy="1021928"/>
          </a:xfrm>
          <a:prstGeom prst="roundRect">
            <a:avLst>
              <a:gd name="adj" fmla="val 6711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1831" y="3525292"/>
            <a:ext cx="57150" cy="1021928"/>
          </a:xfrm>
          <a:prstGeom prst="roundRect">
            <a:avLst>
              <a:gd name="adj" fmla="val 83349"/>
            </a:avLst>
          </a:prstGeom>
          <a:solidFill>
            <a:srgbClr val="007EBD"/>
          </a:solidFill>
          <a:ln/>
        </p:spPr>
      </p:sp>
      <p:sp>
        <p:nvSpPr>
          <p:cNvPr id="21" name="Text 19"/>
          <p:cNvSpPr/>
          <p:nvPr/>
        </p:nvSpPr>
        <p:spPr>
          <a:xfrm>
            <a:off x="666676" y="3652986"/>
            <a:ext cx="148850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Индексы БД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6676" y="3929732"/>
            <a:ext cx="1540818" cy="489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Оптимизация по meetingId, userId, date, status — высокая скорость</a:t>
            </a:r>
            <a:endParaRPr lang="en-US" sz="8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476" y="1183407"/>
            <a:ext cx="3284860" cy="3284860"/>
          </a:xfrm>
          <a:prstGeom prst="rect">
            <a:avLst/>
          </a:prstGeom>
        </p:spPr>
      </p:pic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A352C9E-E8E7-5B13-B49E-A65844CC42D5}"/>
              </a:ext>
            </a:extLst>
          </p:cNvPr>
          <p:cNvSpPr/>
          <p:nvPr/>
        </p:nvSpPr>
        <p:spPr>
          <a:xfrm>
            <a:off x="7997588" y="4826758"/>
            <a:ext cx="1146412" cy="316742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7454"/>
            <a:ext cx="5786884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Результаты и перспективы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526977"/>
            <a:ext cx="2317849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✅ Достигнуто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1910804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Полный REST API с CRUD операциями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Аутентификация с ролями и проверкой конфликтов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 участниками, файлы, архив; 12 тест-сценариев пройдено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TypeScript фронтенд, локализация ru / kk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47605" y="1385218"/>
            <a:ext cx="4107135" cy="1631082"/>
          </a:xfrm>
          <a:prstGeom prst="roundRect">
            <a:avLst>
              <a:gd name="adj" fmla="val 6258"/>
            </a:avLst>
          </a:prstGeom>
          <a:solidFill>
            <a:srgbClr val="007EBD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789363" y="1526977"/>
            <a:ext cx="3119810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🚀 Roadmap (в перспективе)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789363" y="1910804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Интеграция с Google Calendar / Outlook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и push-уведомления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Аналитика и отчёты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Мобильное приложение (React Native)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6119" y="324661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2–3ч</a:t>
            </a:r>
            <a:endParaRPr lang="en-US" sz="3650" dirty="0"/>
          </a:p>
        </p:txBody>
      </p:sp>
      <p:sp>
        <p:nvSpPr>
          <p:cNvPr id="9" name="Text 7"/>
          <p:cNvSpPr/>
          <p:nvPr/>
        </p:nvSpPr>
        <p:spPr>
          <a:xfrm>
            <a:off x="865361" y="3891558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Экономия в день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96119" y="4209157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согласование встреч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72433" y="324661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3650" dirty="0"/>
          </a:p>
        </p:txBody>
      </p:sp>
      <p:sp>
        <p:nvSpPr>
          <p:cNvPr id="12" name="Text 10"/>
          <p:cNvSpPr/>
          <p:nvPr/>
        </p:nvSpPr>
        <p:spPr>
          <a:xfrm>
            <a:off x="3641675" y="3891558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Ролей и форматов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272433" y="4209157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гибкое управление доступом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48747" y="324661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100%</a:t>
            </a:r>
            <a:endParaRPr lang="en-US" sz="3650" dirty="0"/>
          </a:p>
        </p:txBody>
      </p:sp>
      <p:sp>
        <p:nvSpPr>
          <p:cNvPr id="15" name="Text 13"/>
          <p:cNvSpPr/>
          <p:nvPr/>
        </p:nvSpPr>
        <p:spPr>
          <a:xfrm>
            <a:off x="6417990" y="3891558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Прозрачность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048747" y="4209157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история всех встреч</a:t>
            </a:r>
            <a:endParaRPr lang="en-US" sz="11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9489204-0437-449E-C8FA-94A82470AEC6}"/>
              </a:ext>
            </a:extLst>
          </p:cNvPr>
          <p:cNvSpPr/>
          <p:nvPr/>
        </p:nvSpPr>
        <p:spPr>
          <a:xfrm>
            <a:off x="7997588" y="4826758"/>
            <a:ext cx="1146412" cy="316742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56AF54-826F-932C-C45E-E9674F905611}"/>
              </a:ext>
            </a:extLst>
          </p:cNvPr>
          <p:cNvSpPr txBox="1"/>
          <p:nvPr/>
        </p:nvSpPr>
        <p:spPr>
          <a:xfrm>
            <a:off x="1740135" y="2187029"/>
            <a:ext cx="56637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/>
              <a:t>Спасибо за внимание!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C6D5568-14D0-82F9-41CF-5357245721D5}"/>
              </a:ext>
            </a:extLst>
          </p:cNvPr>
          <p:cNvSpPr/>
          <p:nvPr/>
        </p:nvSpPr>
        <p:spPr>
          <a:xfrm>
            <a:off x="7997588" y="4826758"/>
            <a:ext cx="1146412" cy="316742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439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596</Words>
  <Application>Microsoft Office PowerPoint</Application>
  <PresentationFormat>Экран (16:9)</PresentationFormat>
  <Paragraphs>137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Inter</vt:lpstr>
      <vt:lpstr>Consolas</vt:lpstr>
      <vt:lpstr>Arial</vt:lpstr>
      <vt:lpstr>Petrona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Дамир Кадыржанов</cp:lastModifiedBy>
  <cp:revision>2</cp:revision>
  <dcterms:created xsi:type="dcterms:W3CDTF">2026-05-26T12:34:23Z</dcterms:created>
  <dcterms:modified xsi:type="dcterms:W3CDTF">2026-05-26T12:36:42Z</dcterms:modified>
</cp:coreProperties>
</file>